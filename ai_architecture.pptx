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D5FF"/>
                </a:solidFill>
                <a:latin typeface="Helvetica"/>
              </a:rPr>
              <a:t>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Helvetica"/>
              </a:rPr>
              <a:t>How the AI actually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9D5FF"/>
                </a:solidFill>
                <a:latin typeface="Helvetica"/>
              </a:rPr>
              <a:t>語 ปากจีน — Mandarin pronunciation 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4B5FD"/>
                </a:solidFill>
                <a:latin typeface="Helvetica"/>
              </a:rPr>
              <a:t>Powered by Pathumma ThaiLLM (NECTEC)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THE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The AI never hears your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Helvetica"/>
              </a:rPr>
              <a:t>Speech-to-text runs in your browser via the Web Speech API.</a:t>
            </a:r>
          </a:p>
          <a:p>
            <a:pPr algn="l"/>
            <a:r>
              <a:rPr sz="1800" b="0">
                <a:solidFill>
                  <a:srgbClr val="1A1A2E"/>
                </a:solidFill>
                <a:latin typeface="Helvetica"/>
              </a:rPr>
              <a:t>By the time the request reaches the server, audio is gone — only the</a:t>
            </a:r>
          </a:p>
          <a:p>
            <a:pPr algn="l"/>
            <a:r>
              <a:rPr sz="1800" b="0">
                <a:solidFill>
                  <a:srgbClr val="1A1A2E"/>
                </a:solidFill>
                <a:latin typeface="Helvetica"/>
              </a:rPr>
              <a:t>recognized hanzi text travels to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576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8221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Helvetica"/>
              </a:rPr>
              <a:t>🎤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06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(audio)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4114800.0"/>
            <a:ext cx="13716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36576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8221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Helvetica"/>
              </a:rPr>
              <a:t>Web Speech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206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zh-CN, on-device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4114800.0"/>
            <a:ext cx="13716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92040" y="36576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8221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Helvetica"/>
              </a:rPr>
              <a:t>"你好"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206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text only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4114800.0"/>
            <a:ext cx="13716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0" y="36576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8221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Helvetica"/>
              </a:rPr>
              <a:t>Pathumma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206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LLM judge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40" y="4114800.0"/>
            <a:ext cx="137160" cy="0.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36576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38221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Helvetica"/>
              </a:rPr>
              <a:t>✓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206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"/>
              </a:rPr>
              <a:t>Thai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Helvetica"/>
              </a:rPr>
              <a:t>→ Pathumma is a judge that compares two strings (target vs heard),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Helvetica"/>
              </a:rPr>
              <a:t>    not an audio model. Cheaper, faster, and works surprisingly well.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1 ·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What the lesson page sends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Helvetica"/>
              </a:rPr>
              <a:t>POST /api/evaluate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6858000" cy="2194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9525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492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{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"target": {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  "hanzi":   "你好",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  "pinyin":  "nǐ hǎo",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  "english": "Hello"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},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"said":   "你好",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"tone":   3,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"model":  "pathumma-thaillm"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Helvetica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what you were asked to 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0632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Helvetica"/>
              </a:rPr>
              <a:t>said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33756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what the recognizer thinks you said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31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Helvetica"/>
              </a:rPr>
              <a:t>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206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only set for tone-drill lessons (2 or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00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Helvetica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07492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default = pathumma-thaillm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2 ·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Three behaviors hard-wired into the system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FORGIVING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Tolerate recognizer slip-ups: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missed particles, near-homophones,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dropped neutral tones.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1031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STRICT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Reply ONLY with a one-line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JSON object: { correct, score,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feedback, corrected }.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21031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THAI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Feedback must be in Thai.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Short, encouraging, points to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what to fix.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Helvetica"/>
              </a:rPr>
              <a:t>+ optional tone instruction (next slide)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3 · TONE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One extra block flips grading into tone-strict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"/>
              </a:rPr>
              <a:t>When the lesson has tone: 2 or tone: 3, toneInstruction() appends: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0972800" cy="16459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9525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โหมดฝึกวรรณยุกต์: ผู้เรียนกำลังฝึก วรรณยุกต์ที่ 3 (เสียงตก-ขึ้น)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- ตรวจวรรณยุกต์อย่างเข้มงวด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- ถ้า hanzi ถูกแต่วรรณยุกต์ผิด → mark incorrect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- จำกฎ tone sandhi: 3+3 → 2+3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10972800" cy="1737360"/>
          </a:xfrm>
          <a:prstGeom prst="roundRect">
            <a:avLst>
              <a:gd name="adj" fmla="val 4000"/>
            </a:avLst>
          </a:prstGeom>
          <a:solidFill>
            <a:srgbClr val="E9D5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Helvetica"/>
              </a:rPr>
              <a:t>TRICK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If you say the WRONG tone, the recognizer often returns a different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hanzi that sounds like what you actually said.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Example: target = 好 (hǎo). You say háo by mistake → recognizer hears 号.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The LLM sees target=好, said=号, same syllable / different tone → catches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4 · LLM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Posting to Pathumma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"/>
              </a:rPr>
              <a:t>POST https://thaillm.or.th/api/v1/chat/completions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Authorization: Bearer THAILLM_API_KEY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0972800" cy="32918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9525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6070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{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"model": "pathumma-thaillm-qwen3-8b-think-3.0.0",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"messages": [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  { "role": "system", "content": "&lt;base prompt&gt; + &lt;tone instruction&gt;" },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  { "role": "user",   "content": "TARGET hanzi: 你好\n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                                  TARGET pinyin: nǐ hǎo\n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                                  TARGET english: Hello\n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                                  HEARD: 你好" }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],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"temperature": 0.3,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"max_tokens": 2048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5 · REASONING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Why Pathumma's reply needs extra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Pathumma is a *reasoning* model (qwen3-8b-think).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It emits chain-of-thought wrapped in &lt;think&gt;…&lt;/think&gt; tags before the answer: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0972800" cy="21031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9525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&lt;think&gt;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ผู้ใช้พูด 你好 ตรงกับ target พอดี วรรณยุกต์ 3+3 → 2+3 ถูกต้อง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ให้คะแนน 100 ได้เลย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&lt;/think&gt;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{ "correct": true, "score": 100, "feedback": "ยอดเยี่ยม!", "corrected": null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"/>
              </a:rPr>
              <a:t>JSON.parse on this raw string → crashes. We need to strip &lt;think&gt;…&lt;/think&gt;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6 · JSON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extractJsonObject() — three-stage cleanup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Helvetica"/>
              </a:rPr>
              <a:t>Strip &lt;think&gt;…&lt;/think&gt;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enlo"/>
              </a:rPr>
              <a:t>Regex: /&lt;think&gt;[\s\S]*?&lt;\/think&gt;/gi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004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Helvetica"/>
              </a:rPr>
              <a:t>Strip markdown code fences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enlo"/>
              </a:rPr>
              <a:t>Regex: /```(?:json)?\s*([\s\S]*?)```/i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Helvetica"/>
              </a:rPr>
              <a:t>Find first balanced { … }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enlo"/>
              </a:rPr>
              <a:t>Walk the string, count braces, stop when depth ==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Robust whether Pathumma emits &lt;think&gt; tags or Gemini emits pure JSON.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7 ·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When the LLM has a bad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"/>
              </a:rPr>
              <a:t>If extraction or parsing fails, we don't crash — we degrade gracefully: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9525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const anyMatch = [...target.hanzi].some(c =&gt; said.includes(c));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parsed = {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correct:   anyMatch,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score:     anyMatch ? 60 : 0,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feedback:  anyMatch ? "ใกล้แล้ว!" : "ลองอีกครั้งนะ",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  corrected: anyMatch ? null : target.hanzi</a:t>
            </a:r>
          </a:p>
          <a:p>
            <a:pPr algn="l"/>
            <a:r>
              <a:rPr sz="1300">
                <a:solidFill>
                  <a:srgbClr val="E6E6FA"/>
                </a:solidFill>
                <a:latin typeface="Menlo"/>
              </a:rP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Dumb character-overlap heuristic = lenient but keeps the UI flowing.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Helvetica"/>
              </a:rPr>
              <a:t>Better to give a forgiving 60/100 than break the lesson with a 500.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STEP 8 ·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What comes back, what the UI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2286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9525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577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{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"correct":   true,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"score":     100,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"feedback":  "ยอดเยี่ยมมาก!",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  "corrected": null</a:t>
            </a:r>
          </a:p>
          <a:p>
            <a:pPr algn="l"/>
            <a:r>
              <a:rPr sz="1400">
                <a:solidFill>
                  <a:srgbClr val="E6E6FA"/>
                </a:solidFill>
                <a:latin typeface="Menlo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937760" cy="100584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Helvetica"/>
              </a:rPr>
              <a:t>correct =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"/>
              </a:rPr>
              <a:t>→ green card · +10 XP · advance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017520"/>
            <a:ext cx="4937760" cy="100584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154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Helvetica"/>
              </a:rPr>
              <a:t>correct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474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Helvetica"/>
              </a:rPr>
              <a:t>→ red card · -1 heart · show corrected hanzi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If user is logged in, the XP/heart change is also posted to Turso via /api/progress.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Helvetica"/>
              </a:rPr>
              <a:t>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Helvetica"/>
              </a:rPr>
              <a:t>Why LLM-as-judge instead of…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4884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Helvetica"/>
              </a:rPr>
              <a:t>Whisper / audio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Hears real tones — but 10× cost, 2-3s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20040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Helvetica"/>
              </a:rPr>
              <a:t>Plain string equality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Marks you wrong on every near-homophone. Brutal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25196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Helvetica"/>
              </a:rPr>
              <a:t>Pure rule-based grader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89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Can't give natural Thai feedback or explain why.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7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03519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Helvetica"/>
              </a:rPr>
              <a:t>LLM-as-judge (ours)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4067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Fast · cheap · forgiving where it should be · strict when tone mode is on · Thai feedback for free.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語 ปากจีน · AI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Helvetica"/>
              </a:rPr>
              <a:t>AI ≠ audio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9D5FF"/>
                </a:solidFill>
                <a:latin typeface="Helvetica"/>
              </a:rPr>
              <a:t>AI = text judge with a strict prompt.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Helvetica"/>
              </a:rPr>
              <a:t>Browser does the listening · Pathumma does the grading · Thai feedback for free.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